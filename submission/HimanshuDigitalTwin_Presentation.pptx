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9144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A5DCCB"/>
                </a:solidFill>
                <a:latin typeface="Aptos"/>
              </a:defRPr>
            </a:pPr>
            <a:r>
              <a:t>HAPPIEST HEALTH DIGITAL TWIN CHALLENGE 2026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12700">
            <a:solidFill>
              <a:srgbClr val="3959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BED3D8"/>
                </a:solidFill>
                <a:latin typeface="Aptos"/>
              </a:defRPr>
            </a:pPr>
            <a:r>
              <a:t>HIMANSHUDIGITALTWIN  /  MITS GWALIOR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BED3D8"/>
                </a:solidFill>
                <a:latin typeface="Aptos"/>
              </a:defRPr>
            </a:pPr>
            <a:r>
              <a:t>01 /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649224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4700" b="1">
                <a:solidFill>
                  <a:srgbClr val="FFFFFF"/>
                </a:solidFill>
                <a:latin typeface="Aptos"/>
              </a:defRPr>
            </a:pPr>
            <a:r>
              <a:t>Himanshu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64922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5000" b="1">
                <a:solidFill>
                  <a:srgbClr val="A5DCCB"/>
                </a:solidFill>
                <a:latin typeface="Aptos"/>
              </a:defRPr>
            </a:pPr>
            <a:r>
              <a:t>DigitalTwin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34056"/>
            <a:ext cx="5943600" cy="1417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500" b="0">
                <a:solidFill>
                  <a:srgbClr val="FFFFFF"/>
                </a:solidFill>
                <a:latin typeface="Aptos"/>
              </a:defRPr>
            </a:pPr>
            <a:r>
              <a:t>A research prototype for near-term</a:t>
            </a:r>
          </a:p>
          <a:p>
            <a:pPr algn="l">
              <a:spcAft>
                <a:spcPts val="200"/>
              </a:spcAft>
              <a:defRPr sz="2500" b="0">
                <a:solidFill>
                  <a:srgbClr val="FFFFFF"/>
                </a:solidFill>
                <a:latin typeface="Aptos"/>
              </a:defRPr>
            </a:pPr>
            <a:r>
              <a:t>glucose forecasting — with a reason</a:t>
            </a:r>
          </a:p>
          <a:p>
            <a:pPr algn="l">
              <a:spcAft>
                <a:spcPts val="200"/>
              </a:spcAft>
              <a:defRPr sz="2500" b="0">
                <a:solidFill>
                  <a:srgbClr val="FFFFFF"/>
                </a:solidFill>
                <a:latin typeface="Aptos"/>
              </a:defRPr>
            </a:pPr>
            <a:r>
              <a:t>to withhold a prediction.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029200"/>
            <a:ext cx="53949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A5DCCB"/>
                </a:solidFill>
                <a:latin typeface="Aptos"/>
              </a:defRPr>
            </a:pPr>
            <a:r>
              <a:t>Team  himanshusubh1510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13248"/>
            <a:ext cx="6217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D8E7E7"/>
                </a:solidFill>
                <a:latin typeface="Aptos"/>
              </a:defRPr>
            </a:pPr>
            <a:r>
              <a:t>Presenter  Himanshu Shukla  ·  MITS Gwalior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1325880"/>
            <a:ext cx="4526280" cy="4315968"/>
          </a:xfrm>
          <a:prstGeom prst="roundRect">
            <a:avLst>
              <a:gd name="adj" fmla="val 15000"/>
            </a:avLst>
          </a:prstGeom>
          <a:solidFill>
            <a:srgbClr val="254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775" y="1618488"/>
            <a:ext cx="39319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5DCCB"/>
                </a:solidFill>
                <a:latin typeface="Aptos"/>
              </a:defRPr>
            </a:pPr>
            <a:r>
              <a:t>SYNTHETIC REPLAY  / 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1984248"/>
            <a:ext cx="1828800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5800" b="1">
                <a:solidFill>
                  <a:srgbClr val="FFFFFF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6296" y="2322576"/>
            <a:ext cx="20574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C1D6DB"/>
                </a:solidFill>
                <a:latin typeface="Aptos"/>
              </a:defRPr>
            </a:pPr>
            <a:r>
              <a:t>mg/dL  at 12:15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60920" y="4160520"/>
            <a:ext cx="3831336" cy="0"/>
          </a:xfrm>
          <a:prstGeom prst="line">
            <a:avLst/>
          </a:prstGeom>
          <a:ln w="12700">
            <a:solidFill>
              <a:srgbClr val="6585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60920" y="4681728"/>
            <a:ext cx="3831336" cy="0"/>
          </a:xfrm>
          <a:prstGeom prst="line">
            <a:avLst/>
          </a:prstGeom>
          <a:ln w="12700">
            <a:solidFill>
              <a:srgbClr val="6585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88352" y="3986784"/>
            <a:ext cx="1161288" cy="502920"/>
          </a:xfrm>
          <a:prstGeom prst="line">
            <a:avLst/>
          </a:prstGeom>
          <a:ln w="38100">
            <a:solidFill>
              <a:srgbClr val="A5D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549640" y="3968496"/>
            <a:ext cx="1124712" cy="18288"/>
          </a:xfrm>
          <a:prstGeom prst="line">
            <a:avLst/>
          </a:prstGeom>
          <a:ln w="38100">
            <a:solidFill>
              <a:srgbClr val="A5D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674352" y="3968496"/>
            <a:ext cx="1444752" cy="438912"/>
          </a:xfrm>
          <a:prstGeom prst="line">
            <a:avLst/>
          </a:prstGeom>
          <a:ln w="38100">
            <a:solidFill>
              <a:srgbClr val="A5DC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333488" y="4434840"/>
            <a:ext cx="109728" cy="109728"/>
          </a:xfrm>
          <a:prstGeom prst="ellipse">
            <a:avLst/>
          </a:prstGeom>
          <a:solidFill>
            <a:srgbClr val="A5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94776" y="3931920"/>
            <a:ext cx="109728" cy="109728"/>
          </a:xfrm>
          <a:prstGeom prst="ellipse">
            <a:avLst/>
          </a:prstGeom>
          <a:solidFill>
            <a:srgbClr val="A5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19488" y="3913632"/>
            <a:ext cx="109728" cy="109728"/>
          </a:xfrm>
          <a:prstGeom prst="ellipse">
            <a:avLst/>
          </a:prstGeom>
          <a:solidFill>
            <a:srgbClr val="A5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064240" y="4352544"/>
            <a:ext cx="109728" cy="109728"/>
          </a:xfrm>
          <a:prstGeom prst="ellipse">
            <a:avLst/>
          </a:prstGeom>
          <a:solidFill>
            <a:srgbClr val="A5D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489204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B8CED1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7344" y="489204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B8CED1"/>
                </a:solidFill>
                <a:latin typeface="Aptos"/>
              </a:defRPr>
            </a:pPr>
            <a:r>
              <a:t>+30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489204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B8CED1"/>
                </a:solidFill>
                <a:latin typeface="Aptos"/>
              </a:defRPr>
            </a:pPr>
            <a:r>
              <a:t>+60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16768" y="489204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B8CED1"/>
                </a:solidFill>
                <a:latin typeface="Aptos"/>
              </a:defRPr>
            </a:pPr>
            <a:r>
              <a:t>+120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5" y="550468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B8CED1"/>
                </a:solidFill>
                <a:latin typeface="Aptos"/>
              </a:defRPr>
            </a:pPr>
            <a:r>
              <a:t>Illustrative numbers. Not a calibrated clinical forecast.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9144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167E78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2708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172F3B"/>
                </a:solidFill>
                <a:latin typeface="Aptos"/>
              </a:defRPr>
            </a:pPr>
            <a:r>
              <a:t>One number describes the present. It does not explain the next two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0784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667D88"/>
                </a:solidFill>
                <a:latin typeface="Aptos"/>
              </a:defRPr>
            </a:pPr>
            <a:r>
              <a:t>Patient context and measurement quality change what a forecast can mean.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12700">
            <a:solidFill>
              <a:srgbClr val="D9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667D88"/>
                </a:solidFill>
                <a:latin typeface="Aptos"/>
              </a:defRPr>
            </a:pPr>
            <a:r>
              <a:t>HIMANSHUDIGITALTWIN  /  MITS GWALIOR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667D88"/>
                </a:solidFill>
                <a:latin typeface="Aptos"/>
              </a:defRPr>
            </a:pPr>
            <a:r>
              <a:t>02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12848"/>
            <a:ext cx="3657600" cy="33558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487168"/>
            <a:ext cx="2560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67E78"/>
                </a:solidFill>
                <a:latin typeface="Aptos"/>
              </a:defRPr>
            </a:pPr>
            <a:r>
              <a:t>AT 12:15 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44368"/>
            <a:ext cx="2770632" cy="9784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6300" b="1">
                <a:solidFill>
                  <a:srgbClr val="172F3B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950208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667D88"/>
                </a:solidFill>
                <a:latin typeface="Aptos"/>
              </a:defRPr>
            </a:pPr>
            <a:r>
              <a:t>mg/dL  ·  synthetic observed value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" y="4663440"/>
            <a:ext cx="3099815" cy="0"/>
          </a:xfrm>
          <a:prstGeom prst="line">
            <a:avLst/>
          </a:prstGeom>
          <a:ln w="17780">
            <a:solidFill>
              <a:srgbClr val="D9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7824" y="4764024"/>
            <a:ext cx="31821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72F3B"/>
                </a:solidFill>
                <a:latin typeface="Aptos"/>
              </a:defRPr>
            </a:pPr>
            <a:r>
              <a:t>A reading is evidence —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172F3B"/>
                </a:solidFill>
                <a:latin typeface="Aptos"/>
              </a:defRPr>
            </a:pPr>
            <a:r>
              <a:t>not a two-hour prediction.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53128" y="2212848"/>
            <a:ext cx="7114032" cy="335584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2496312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67E78"/>
                </a:solidFill>
                <a:latin typeface="Aptos"/>
              </a:defRPr>
            </a:pPr>
            <a:r>
              <a:t>ILLUSTRATIVE FORECAST FROM THE SAME REPLAY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008376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667D88"/>
                </a:solidFill>
                <a:latin typeface="Aptos"/>
              </a:defRPr>
            </a:pPr>
            <a: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338328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172F3B"/>
                </a:solidFill>
                <a:latin typeface="Aptos"/>
              </a:defRPr>
            </a:pPr>
            <a:r>
              <a:t>144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53912" y="3694176"/>
            <a:ext cx="173736" cy="0"/>
          </a:xfrm>
          <a:prstGeom prst="line">
            <a:avLst/>
          </a:prstGeom>
          <a:ln w="25400">
            <a:solidFill>
              <a:srgbClr val="16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3008376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667D88"/>
                </a:solidFill>
                <a:latin typeface="Aptos"/>
              </a:defRPr>
            </a:pPr>
            <a:r>
              <a:t>+30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38328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172F3B"/>
                </a:solidFill>
                <a:latin typeface="Aptos"/>
              </a:defRPr>
            </a:pPr>
            <a:r>
              <a:t>155.5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0" y="3694176"/>
            <a:ext cx="173736" cy="0"/>
          </a:xfrm>
          <a:prstGeom prst="line">
            <a:avLst/>
          </a:prstGeom>
          <a:ln w="25400">
            <a:solidFill>
              <a:srgbClr val="16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010144" y="3008376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667D88"/>
                </a:solidFill>
                <a:latin typeface="Aptos"/>
              </a:defRPr>
            </a:pPr>
            <a:r>
              <a:t>+60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10144" y="338328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172F3B"/>
                </a:solidFill>
                <a:latin typeface="Aptos"/>
              </a:defRPr>
            </a:pPr>
            <a:r>
              <a:t>156.0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90888" y="3694176"/>
            <a:ext cx="173736" cy="0"/>
          </a:xfrm>
          <a:prstGeom prst="line">
            <a:avLst/>
          </a:prstGeom>
          <a:ln w="25400">
            <a:solidFill>
              <a:srgbClr val="16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628632" y="3008376"/>
            <a:ext cx="144475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667D88"/>
                </a:solidFill>
                <a:latin typeface="Aptos"/>
              </a:defRPr>
            </a:pPr>
            <a:r>
              <a:t>+120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632" y="3383280"/>
            <a:ext cx="1508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700" b="1">
                <a:solidFill>
                  <a:srgbClr val="172F3B"/>
                </a:solidFill>
                <a:latin typeface="Aptos"/>
              </a:defRPr>
            </a:pPr>
            <a:r>
              <a:t>145.4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773168" y="4416552"/>
            <a:ext cx="6419088" cy="0"/>
          </a:xfrm>
          <a:prstGeom prst="line">
            <a:avLst/>
          </a:prstGeom>
          <a:ln w="17780">
            <a:solidFill>
              <a:srgbClr val="D9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773168" y="4599432"/>
            <a:ext cx="6400800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667D88"/>
                </a:solidFill>
                <a:latin typeface="Aptos"/>
              </a:defRPr>
            </a:pPr>
            <a:r>
              <a:t>Context: 59.7 g recent carbohydrates  ·  heart rate 82 bpm  ·  time aligned CGM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" y="5824728"/>
            <a:ext cx="108630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72F3B"/>
                </a:solidFill>
                <a:latin typeface="Aptos"/>
              </a:defRPr>
            </a:pPr>
            <a:r>
              <a:t>Question for the prototype: can we show useful context without hiding sensor uncertainty?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9144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167E78"/>
                </a:solidFill>
                <a:latin typeface="Aptos"/>
              </a:defRPr>
            </a:pPr>
            <a:r>
              <a:t>02 /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2708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172F3B"/>
                </a:solidFill>
                <a:latin typeface="Aptos"/>
              </a:defRPr>
            </a:pPr>
            <a:r>
              <a:t>Synchronize first. Predict only when supported.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0784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667D88"/>
                </a:solidFill>
                <a:latin typeface="Aptos"/>
              </a:defRPr>
            </a:pPr>
            <a:r>
              <a:t>The judge can trace an observation through an explicit quality decision.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12700">
            <a:solidFill>
              <a:srgbClr val="D9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667D88"/>
                </a:solidFill>
                <a:latin typeface="Aptos"/>
              </a:defRPr>
            </a:pPr>
            <a:r>
              <a:t>HIMANSHUDIGITALTWIN  /  MITS GWALIOR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667D88"/>
                </a:solidFill>
                <a:latin typeface="Aptos"/>
              </a:defRPr>
            </a:pPr>
            <a:r>
              <a:t>03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286000"/>
            <a:ext cx="2075688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5973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72F3B"/>
                </a:solidFill>
                <a:latin typeface="Aptos"/>
              </a:defRPr>
            </a:pPr>
            <a:r>
              <a:t>Patient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7D88"/>
                </a:solidFill>
                <a:latin typeface="Aptos"/>
              </a:defRPr>
            </a:pPr>
            <a:r>
              <a:t>Age · BMI · HbA1c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43784" y="2286000"/>
            <a:ext cx="2075688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80944" y="245973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72F3B"/>
                </a:solidFill>
                <a:latin typeface="Aptos"/>
              </a:defRPr>
            </a:pPr>
            <a:r>
              <a:t>CGM observations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834640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7D88"/>
                </a:solidFill>
                <a:latin typeface="Aptos"/>
              </a:defRPr>
            </a:pPr>
            <a:r>
              <a:t>Value · timestamp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3208" y="2286000"/>
            <a:ext cx="2075688" cy="10058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45973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72F3B"/>
                </a:solidFill>
                <a:latin typeface="Aptos"/>
              </a:defRPr>
            </a:pPr>
            <a:r>
              <a:t>Meal +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834640"/>
            <a:ext cx="1828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7D88"/>
                </a:solidFill>
                <a:latin typeface="Aptos"/>
              </a:defRPr>
            </a:pPr>
            <a:r>
              <a:t>Carbs · movement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91056" y="3703320"/>
            <a:ext cx="3703320" cy="932688"/>
          </a:xfrm>
          <a:prstGeom prst="roundRect">
            <a:avLst>
              <a:gd name="adj" fmla="val 15000"/>
            </a:avLst>
          </a:prstGeom>
          <a:solidFill>
            <a:srgbClr val="E6F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92224" y="3895344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72F3B"/>
                </a:solidFill>
                <a:latin typeface="Aptos"/>
              </a:defRPr>
            </a:pPr>
            <a:r>
              <a:t>Versioned patient state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2224" y="4261104"/>
            <a:ext cx="333756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7D88"/>
                </a:solidFill>
                <a:latin typeface="Aptos"/>
              </a:defRPr>
            </a:pPr>
            <a:r>
              <a:t>Timestamp alignment + replay history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618488" y="3300984"/>
            <a:ext cx="0" cy="182880"/>
          </a:xfrm>
          <a:prstGeom prst="line">
            <a:avLst/>
          </a:prstGeom>
          <a:ln w="20320">
            <a:solidFill>
              <a:srgbClr val="16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867912" y="3300984"/>
            <a:ext cx="0" cy="182880"/>
          </a:xfrm>
          <a:prstGeom prst="line">
            <a:avLst/>
          </a:prstGeom>
          <a:ln w="20320">
            <a:solidFill>
              <a:srgbClr val="16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08192" y="3300984"/>
            <a:ext cx="0" cy="182880"/>
          </a:xfrm>
          <a:prstGeom prst="line">
            <a:avLst/>
          </a:prstGeom>
          <a:ln w="20320">
            <a:solidFill>
              <a:srgbClr val="16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618488" y="3483864"/>
            <a:ext cx="2249424" cy="0"/>
          </a:xfrm>
          <a:prstGeom prst="line">
            <a:avLst/>
          </a:prstGeom>
          <a:ln w="17780">
            <a:solidFill>
              <a:srgbClr val="16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67912" y="3483864"/>
            <a:ext cx="0" cy="219456"/>
          </a:xfrm>
          <a:prstGeom prst="line">
            <a:avLst/>
          </a:prstGeom>
          <a:ln w="17780">
            <a:solidFill>
              <a:srgbClr val="16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294376" y="4178808"/>
            <a:ext cx="603504" cy="0"/>
          </a:xfrm>
          <a:prstGeom prst="line">
            <a:avLst/>
          </a:prstGeom>
          <a:ln w="25400">
            <a:solidFill>
              <a:srgbClr val="16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897880" y="3675887"/>
            <a:ext cx="2221992" cy="1005840"/>
          </a:xfrm>
          <a:prstGeom prst="roundRect">
            <a:avLst>
              <a:gd name="adj" fmla="val 15000"/>
            </a:avLst>
          </a:prstGeom>
          <a:solidFill>
            <a:srgbClr val="E8F2F1"/>
          </a:solidFill>
          <a:ln w="12700">
            <a:solidFill>
              <a:srgbClr val="167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3822191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67E78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4151376"/>
            <a:ext cx="18836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72F3B"/>
                </a:solidFill>
                <a:latin typeface="Aptos"/>
              </a:defRPr>
            </a:pPr>
            <a:r>
              <a:t>Fresh enough?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8129016" y="2980944"/>
            <a:ext cx="493776" cy="978408"/>
          </a:xfrm>
          <a:prstGeom prst="line">
            <a:avLst/>
          </a:prstGeom>
          <a:ln w="25400">
            <a:solidFill>
              <a:srgbClr val="167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129016" y="4398264"/>
            <a:ext cx="493776" cy="740664"/>
          </a:xfrm>
          <a:prstGeom prst="line">
            <a:avLst/>
          </a:prstGeom>
          <a:ln w="25400">
            <a:solidFill>
              <a:srgbClr val="B46F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31936" y="2523744"/>
            <a:ext cx="2816352" cy="987552"/>
          </a:xfrm>
          <a:prstGeom prst="roundRect">
            <a:avLst>
              <a:gd name="adj" fmla="val 15000"/>
            </a:avLst>
          </a:prstGeom>
          <a:solidFill>
            <a:srgbClr val="E4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96528" y="265176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167E78"/>
                </a:solidFill>
                <a:latin typeface="Aptos"/>
              </a:defRPr>
            </a:pPr>
            <a:r>
              <a:t>VALID / SUPPORTED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96528" y="2953512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72F3B"/>
                </a:solidFill>
                <a:latin typeface="Aptos"/>
              </a:defRPr>
            </a:pPr>
            <a:r>
              <a:t>30 / 60 / 120 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31936" y="4690872"/>
            <a:ext cx="2816352" cy="987552"/>
          </a:xfrm>
          <a:prstGeom prst="roundRect">
            <a:avLst>
              <a:gd name="adj" fmla="val 15000"/>
            </a:avLst>
          </a:prstGeom>
          <a:solidFill>
            <a:srgbClr val="F6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96528" y="4809744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B46F4B"/>
                </a:solidFill>
                <a:latin typeface="Aptos"/>
              </a:defRPr>
            </a:pPr>
            <a:r>
              <a:t>SENSOR TOO STALE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96528" y="5102352"/>
            <a:ext cx="2551176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72F3B"/>
                </a:solidFill>
                <a:latin typeface="Aptos"/>
              </a:defRPr>
            </a:pPr>
            <a:r>
              <a:t>Withhold forecast + risk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2185416" y="5907024"/>
            <a:ext cx="6409944" cy="0"/>
          </a:xfrm>
          <a:prstGeom prst="line">
            <a:avLst/>
          </a:prstGeom>
          <a:ln w="12700">
            <a:solidFill>
              <a:srgbClr val="A6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185416" y="4645152"/>
            <a:ext cx="0" cy="1261872"/>
          </a:xfrm>
          <a:prstGeom prst="line">
            <a:avLst/>
          </a:prstGeom>
          <a:ln w="12700">
            <a:solidFill>
              <a:srgbClr val="A6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505456" y="5669280"/>
            <a:ext cx="587044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7D88"/>
                </a:solidFill>
                <a:latin typeface="Aptos"/>
              </a:defRPr>
            </a:pPr>
            <a:r>
              <a:t>Later valid observations are compared with earlier forecasts (synthetic verification)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" y="6153912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7D88"/>
                </a:solidFill>
                <a:latin typeface="Aptos"/>
              </a:defRPr>
            </a:pPr>
            <a:r>
              <a:t>Python · FastAPI · HTML/CSS/JS  /  scikit-learn research pipeline is separate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9144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167E78"/>
                </a:solidFill>
                <a:latin typeface="Aptos"/>
              </a:defRPr>
            </a:pPr>
            <a:r>
              <a:t>03 /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2708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172F3B"/>
                </a:solidFill>
                <a:latin typeface="Aptos"/>
              </a:defRPr>
            </a:pPr>
            <a:r>
              <a:t>Six checkpoints. One reproducible synthetic patient.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0784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667D88"/>
                </a:solidFill>
                <a:latin typeface="Aptos"/>
              </a:defRPr>
            </a:pPr>
            <a:r>
              <a:t>The default FastAPI dashboard lets judges jump directly to each state.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12700">
            <a:solidFill>
              <a:srgbClr val="D9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667D88"/>
                </a:solidFill>
                <a:latin typeface="Aptos"/>
              </a:defRPr>
            </a:pPr>
            <a:r>
              <a:t>HIMANSHUDIGITALTWIN  /  MITS GWALIOR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667D88"/>
                </a:solidFill>
                <a:latin typeface="Aptos"/>
              </a:defRPr>
            </a:pPr>
            <a:r>
              <a:t>04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2240280"/>
            <a:ext cx="3584448" cy="12618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" y="2240280"/>
            <a:ext cx="50292" cy="1261872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957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167E7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2377440"/>
            <a:ext cx="2596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72F3B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0720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667D88"/>
                </a:solidFill>
                <a:latin typeface="Aptos"/>
              </a:defRPr>
            </a:pPr>
            <a:r>
              <a:t>Profile + first valid CGM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5696" y="2240280"/>
            <a:ext cx="3584448" cy="12618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25696" y="2240280"/>
            <a:ext cx="50292" cy="1261872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23957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167E7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377440"/>
            <a:ext cx="2596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72F3B"/>
                </a:solidFill>
                <a:latin typeface="Aptos"/>
              </a:defRPr>
            </a:pPr>
            <a:r>
              <a:t>BREAKFAST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280720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667D88"/>
                </a:solidFill>
                <a:latin typeface="Aptos"/>
              </a:defRPr>
            </a:pPr>
            <a:r>
              <a:t>Meal context changes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7888" y="2240280"/>
            <a:ext cx="3584448" cy="12618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47888" y="2240280"/>
            <a:ext cx="50292" cy="1261872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49056" y="2395728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167E7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377440"/>
            <a:ext cx="2596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72F3B"/>
                </a:solidFill>
                <a:latin typeface="Aptos"/>
              </a:defRPr>
            </a:pPr>
            <a:r>
              <a:t>LUNCH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2807208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667D88"/>
                </a:solidFill>
                <a:latin typeface="Aptos"/>
              </a:defRPr>
            </a:pPr>
            <a:r>
              <a:t>Forecast trajectory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" y="3694176"/>
            <a:ext cx="3584448" cy="12618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3504" y="3694176"/>
            <a:ext cx="50292" cy="1261872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384962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167E7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62456" y="3831336"/>
            <a:ext cx="2596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72F3B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261104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667D88"/>
                </a:solidFill>
                <a:latin typeface="Aptos"/>
              </a:defRPr>
            </a:pPr>
            <a:r>
              <a:t>Earlier forecasts resolved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25696" y="3694176"/>
            <a:ext cx="3584448" cy="12618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25696" y="3694176"/>
            <a:ext cx="50292" cy="1261872"/>
          </a:xfrm>
          <a:prstGeom prst="rect">
            <a:avLst/>
          </a:prstGeom>
          <a:solidFill>
            <a:srgbClr val="B46F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384962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B46F4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84648" y="3831336"/>
            <a:ext cx="2596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72F3B"/>
                </a:solidFill>
                <a:latin typeface="Aptos"/>
              </a:defRPr>
            </a:pPr>
            <a:r>
              <a:t>SENSOR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4261104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667D88"/>
                </a:solidFill>
                <a:latin typeface="Aptos"/>
              </a:defRPr>
            </a:pPr>
            <a:r>
              <a:t>Abstention, no risk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47888" y="3694176"/>
            <a:ext cx="3584448" cy="126187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9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47888" y="3694176"/>
            <a:ext cx="50292" cy="1261872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6" y="3849624"/>
            <a:ext cx="5029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167E78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831336"/>
            <a:ext cx="259689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172F3B"/>
                </a:solidFill>
                <a:latin typeface="Aptos"/>
              </a:defRPr>
            </a:pPr>
            <a:r>
              <a:t>RECOVERY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15984" y="4261104"/>
            <a:ext cx="2633472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667D88"/>
                </a:solidFill>
                <a:latin typeface="Aptos"/>
              </a:defRPr>
            </a:pPr>
            <a:r>
              <a:t>Fresh signal returns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" y="5367528"/>
            <a:ext cx="11219688" cy="740664"/>
          </a:xfrm>
          <a:prstGeom prst="roundRect">
            <a:avLst>
              <a:gd name="adj" fmla="val 15000"/>
            </a:avLst>
          </a:prstGeom>
          <a:solidFill>
            <a:srgbClr val="152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" y="5532120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1">
                <a:solidFill>
                  <a:srgbClr val="A5DCCB"/>
                </a:solidFill>
                <a:latin typeface="Aptos"/>
              </a:defRPr>
            </a:pPr>
            <a:r>
              <a:t>JUDGE ACTION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21992" y="5477256"/>
            <a:ext cx="9235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Run FastAPI → open localhost:8000 → Guided judge demo → choose chapter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9144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167E78"/>
                </a:solidFill>
                <a:latin typeface="Aptos"/>
              </a:defRPr>
            </a:pPr>
            <a:r>
              <a:t>04 / SENSOR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2708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172F3B"/>
                </a:solidFill>
                <a:latin typeface="Aptos"/>
              </a:defRPr>
            </a:pPr>
            <a:r>
              <a:t>When the signal fails, the interface must say 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0784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667D88"/>
                </a:solidFill>
                <a:latin typeface="Aptos"/>
              </a:defRPr>
            </a:pPr>
            <a:r>
              <a:t>The demo includes a deliberately missing/stale glucose segment.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12700">
            <a:solidFill>
              <a:srgbClr val="D9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667D88"/>
                </a:solidFill>
                <a:latin typeface="Aptos"/>
              </a:defRPr>
            </a:pPr>
            <a:r>
              <a:t>HIMANSHUDIGITALTWIN  /  MITS GWALIOR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667D88"/>
                </a:solidFill>
                <a:latin typeface="Aptos"/>
              </a:defRPr>
            </a:pPr>
            <a:r>
              <a:t>05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2203704"/>
            <a:ext cx="5230368" cy="3072384"/>
          </a:xfrm>
          <a:prstGeom prst="roundRect">
            <a:avLst>
              <a:gd name="adj" fmla="val 15000"/>
            </a:avLst>
          </a:prstGeom>
          <a:solidFill>
            <a:srgbClr val="E7F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514600"/>
            <a:ext cx="4389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67E78"/>
                </a:solidFill>
                <a:latin typeface="Aptos"/>
              </a:defRPr>
            </a:pPr>
            <a:r>
              <a:t>VALID 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63240"/>
            <a:ext cx="2788920" cy="9052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6100" b="1">
                <a:solidFill>
                  <a:srgbClr val="172F3B"/>
                </a:solidFill>
                <a:latin typeface="Aptos"/>
              </a:defRPr>
            </a:pPr>
            <a:r>
              <a:t>144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3429000"/>
            <a:ext cx="1371600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600" b="0">
                <a:solidFill>
                  <a:srgbClr val="667D88"/>
                </a:solidFill>
                <a:latin typeface="Aptos"/>
              </a:defRPr>
            </a:pPr>
            <a:r>
              <a:t>mg/dL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2688" y="4315968"/>
            <a:ext cx="4526280" cy="0"/>
          </a:xfrm>
          <a:prstGeom prst="line">
            <a:avLst/>
          </a:prstGeom>
          <a:ln w="17780">
            <a:solidFill>
              <a:srgbClr val="BDD3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1832" y="4471416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2200" b="1">
                <a:solidFill>
                  <a:srgbClr val="167E78"/>
                </a:solidFill>
                <a:latin typeface="Aptos"/>
              </a:defRPr>
            </a:pPr>
            <a:r>
              <a:t>Forecast 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855464"/>
            <a:ext cx="43891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200" b="0">
                <a:solidFill>
                  <a:srgbClr val="667D88"/>
                </a:solidFill>
                <a:latin typeface="Aptos"/>
              </a:defRPr>
            </a:pPr>
            <a:r>
              <a:t>Synthetic example at 12:15 PM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203704"/>
            <a:ext cx="5532120" cy="3072384"/>
          </a:xfrm>
          <a:prstGeom prst="roundRect">
            <a:avLst>
              <a:gd name="adj" fmla="val 15000"/>
            </a:avLst>
          </a:prstGeom>
          <a:solidFill>
            <a:srgbClr val="F7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514600"/>
            <a:ext cx="457200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B46F4B"/>
                </a:solidFill>
                <a:latin typeface="Aptos"/>
              </a:defRPr>
            </a:pPr>
            <a:r>
              <a:t>STALE SENSOR / 14:25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3154680"/>
            <a:ext cx="4846320" cy="740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3800" b="1">
                <a:solidFill>
                  <a:srgbClr val="172F3B"/>
                </a:solidFill>
                <a:latin typeface="Aptos"/>
              </a:defRPr>
            </a:pPr>
            <a:r>
              <a:t>WITHHELD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373368" y="4315968"/>
            <a:ext cx="4754880" cy="0"/>
          </a:xfrm>
          <a:prstGeom prst="line">
            <a:avLst/>
          </a:prstGeom>
          <a:ln w="17780">
            <a:solidFill>
              <a:srgbClr val="DDC7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73368" y="4471416"/>
            <a:ext cx="462686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B46F4B"/>
                </a:solidFill>
                <a:latin typeface="Aptos"/>
              </a:defRPr>
            </a:pPr>
            <a:r>
              <a:t>No verified glucose  ·  No forecast  ·  No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5495544"/>
            <a:ext cx="10744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172F3B"/>
                </a:solidFill>
                <a:latin typeface="Aptos"/>
              </a:defRPr>
            </a:pPr>
            <a:r>
              <a:t>Up to 15 minutes: model may use the last valid reading for a provisional estimate.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897880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667D88"/>
                </a:solidFill>
                <a:latin typeface="Aptos"/>
              </a:defRPr>
            </a:pPr>
            <a:r>
              <a:t>Beyond the freshness rule: no estimate is shown. Imputed values are never drawn as measured CGM.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10896"/>
            <a:ext cx="91440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000" b="1">
                <a:solidFill>
                  <a:srgbClr val="167E78"/>
                </a:solidFill>
                <a:latin typeface="Aptos"/>
              </a:defRPr>
            </a:pPr>
            <a:r>
              <a:t>05 / EVIDENCE AND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85800"/>
            <a:ext cx="10927080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3400" b="1">
                <a:solidFill>
                  <a:srgbClr val="172F3B"/>
                </a:solidFill>
                <a:latin typeface="Aptos"/>
              </a:defRPr>
            </a:pPr>
            <a:r>
              <a:t>A measured research signal. Not a deployed clinical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00784"/>
            <a:ext cx="1088136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667D88"/>
                </a:solidFill>
                <a:latin typeface="Aptos"/>
              </a:defRPr>
            </a:pPr>
            <a:r>
              <a:t>Independent CGMacros study, patient-grouped holdout; lower MAE is better.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46520"/>
            <a:ext cx="11109960" cy="0"/>
          </a:xfrm>
          <a:prstGeom prst="line">
            <a:avLst/>
          </a:prstGeom>
          <a:ln w="12700">
            <a:solidFill>
              <a:srgbClr val="D9E4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92240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900" b="1">
                <a:solidFill>
                  <a:srgbClr val="667D88"/>
                </a:solidFill>
                <a:latin typeface="Aptos"/>
              </a:defRPr>
            </a:pPr>
            <a:r>
              <a:t>HIMANSHUDIGITALTWIN  /  MITS GWALIOR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92240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200"/>
              </a:spcAft>
              <a:defRPr sz="900" b="1">
                <a:solidFill>
                  <a:srgbClr val="667D88"/>
                </a:solidFill>
                <a:latin typeface="Aptos"/>
              </a:defRPr>
            </a:pPr>
            <a:r>
              <a:t>06 / 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157984"/>
            <a:ext cx="6812280" cy="36027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395728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67E78"/>
                </a:solidFill>
                <a:latin typeface="Aptos"/>
              </a:defRPr>
            </a:pPr>
            <a:r>
              <a:t>MAE  /  mg/dL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6207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72F3B"/>
                </a:solidFill>
                <a:latin typeface="Aptos"/>
              </a:defRPr>
            </a:pPr>
            <a:r>
              <a:t>30 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40" y="2862072"/>
            <a:ext cx="1641656" cy="173736"/>
          </a:xfrm>
          <a:prstGeom prst="rect">
            <a:avLst/>
          </a:prstGeom>
          <a:solidFill>
            <a:srgbClr val="9FB7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20240" y="3108960"/>
            <a:ext cx="1450018" cy="173736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2852928"/>
            <a:ext cx="12527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72F3B"/>
                </a:solidFill>
                <a:latin typeface="Aptos"/>
              </a:defRPr>
            </a:pPr>
            <a:r>
              <a:t>14.82 / 13.09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69417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72F3B"/>
                </a:solidFill>
                <a:latin typeface="Aptos"/>
              </a:defRPr>
            </a:pPr>
            <a:r>
              <a:t>60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3694176"/>
            <a:ext cx="2541133" cy="173736"/>
          </a:xfrm>
          <a:prstGeom prst="rect">
            <a:avLst/>
          </a:prstGeom>
          <a:solidFill>
            <a:srgbClr val="9FB7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3941064"/>
            <a:ext cx="2300755" cy="173736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0" y="3685032"/>
            <a:ext cx="12527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72F3B"/>
                </a:solidFill>
                <a:latin typeface="Aptos"/>
              </a:defRPr>
            </a:pPr>
            <a:r>
              <a:t>22.94 / 20.77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52628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400" b="1">
                <a:solidFill>
                  <a:srgbClr val="172F3B"/>
                </a:solidFill>
                <a:latin typeface="Aptos"/>
              </a:defRPr>
            </a:pPr>
            <a:r>
              <a:t>120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20240" y="4526280"/>
            <a:ext cx="3595692" cy="173736"/>
          </a:xfrm>
          <a:prstGeom prst="rect">
            <a:avLst/>
          </a:prstGeom>
          <a:solidFill>
            <a:srgbClr val="9FB7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4773168"/>
            <a:ext cx="3065089" cy="173736"/>
          </a:xfrm>
          <a:prstGeom prst="rect">
            <a:avLst/>
          </a:prstGeom>
          <a:solidFill>
            <a:srgbClr val="167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4517136"/>
            <a:ext cx="1252728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172F3B"/>
                </a:solidFill>
                <a:latin typeface="Aptos"/>
              </a:defRPr>
            </a:pPr>
            <a:r>
              <a:t>32.46 / 27.67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5440680"/>
            <a:ext cx="63002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100" b="0">
                <a:solidFill>
                  <a:srgbClr val="667D88"/>
                </a:solidFill>
                <a:latin typeface="Aptos"/>
              </a:defRPr>
            </a:pPr>
            <a:r>
              <a:t>Gray: persistence baseline     Teal: independent study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16952" y="2157984"/>
            <a:ext cx="3977639" cy="3602736"/>
          </a:xfrm>
          <a:prstGeom prst="roundRect">
            <a:avLst>
              <a:gd name="adj" fmla="val 15000"/>
            </a:avLst>
          </a:prstGeom>
          <a:solidFill>
            <a:srgbClr val="E8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2432304"/>
            <a:ext cx="334670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200" b="1">
                <a:solidFill>
                  <a:srgbClr val="167E78"/>
                </a:solidFill>
                <a:latin typeface="Aptos"/>
              </a:defRPr>
            </a:pPr>
            <a:r>
              <a:t>EVIDENCE 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2816352"/>
            <a:ext cx="1024128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3500" b="1">
                <a:solidFill>
                  <a:srgbClr val="172F3B"/>
                </a:solidFill>
                <a:latin typeface="Aptos"/>
              </a:defRPr>
            </a:pPr>
            <a: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33688" y="2980944"/>
            <a:ext cx="24048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667D88"/>
                </a:solidFill>
                <a:latin typeface="Aptos"/>
              </a:defRPr>
            </a:pPr>
            <a:r>
              <a:t>participants  /  14 with T2D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900416" y="3520440"/>
            <a:ext cx="3337560" cy="0"/>
          </a:xfrm>
          <a:prstGeom prst="line">
            <a:avLst/>
          </a:prstGeom>
          <a:ln w="17780">
            <a:solidFill>
              <a:srgbClr val="C6D6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909560" y="3730752"/>
            <a:ext cx="3246120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700" b="1">
                <a:solidFill>
                  <a:srgbClr val="172F3B"/>
                </a:solidFill>
                <a:latin typeface="Aptos"/>
              </a:defRPr>
            </a:pPr>
            <a:r>
              <a:t>Only 3 T2D participants in the</a:t>
            </a:r>
          </a:p>
          <a:p>
            <a:pPr algn="l">
              <a:spcAft>
                <a:spcPts val="200"/>
              </a:spcAft>
              <a:defRPr sz="1700" b="1">
                <a:solidFill>
                  <a:srgbClr val="172F3B"/>
                </a:solidFill>
                <a:latin typeface="Aptos"/>
              </a:defRPr>
            </a:pPr>
            <a:r>
              <a:t>10-person primary holdout.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4736592"/>
            <a:ext cx="3310128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B46F4B"/>
                </a:solidFill>
                <a:latin typeface="Aptos"/>
              </a:defRPr>
            </a:pPr>
            <a:r>
              <a:t>The study model is NOT the model</a:t>
            </a:r>
          </a:p>
          <a:p>
            <a:pPr algn="l">
              <a:spcAft>
                <a:spcPts val="200"/>
              </a:spcAft>
              <a:defRPr sz="1500" b="1">
                <a:solidFill>
                  <a:srgbClr val="B46F4B"/>
                </a:solidFill>
                <a:latin typeface="Aptos"/>
              </a:defRPr>
            </a:pPr>
            <a:r>
              <a:t>running in the synthetic dashboard.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  <a:defRPr sz="1500" b="1">
                <a:solidFill>
                  <a:srgbClr val="172F3B"/>
                </a:solidFill>
                <a:latin typeface="Aptos"/>
              </a:defRPr>
            </a:pPr>
            <a:r>
              <a:t>What the judge can verify: deterministic replay, sensor-gap abstention, and research provenance.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HimanshuDigitalTwin — Happiest Health six-slide submission</dc:title>
  <dc:subject>Research glucose digital twin: synthetic demo and independent evidence</dc:subject>
  <dc:creator>Himanshu Shukla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