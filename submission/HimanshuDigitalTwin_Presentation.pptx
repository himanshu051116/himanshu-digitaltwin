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A5DCCB"/>
                </a:solidFill>
                <a:latin typeface="Aptos"/>
              </a:defRPr>
            </a:pPr>
            <a:r>
              <a:t>HAPPIEST HEALTH DIGITAL TWIN CHALLENGE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39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BED3D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BED3D8"/>
                </a:solidFill>
                <a:latin typeface="Aptos"/>
              </a:defRPr>
            </a:pPr>
            <a:r>
              <a:t>01 /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4700" b="1">
                <a:solidFill>
                  <a:srgbClr val="FFFFFF"/>
                </a:solidFill>
                <a:latin typeface="Aptos"/>
              </a:defRPr>
            </a:pPr>
            <a:r>
              <a:t>Himanshu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64922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5000" b="1">
                <a:solidFill>
                  <a:srgbClr val="A5DCCB"/>
                </a:solidFill>
                <a:latin typeface="Aptos"/>
              </a:defRPr>
            </a:pPr>
            <a:r>
              <a:t>DigitalTwin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34056"/>
            <a:ext cx="59436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A research prototype for near-term</a:t>
            </a:r>
          </a:p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glucose forecasting — with a reason</a:t>
            </a:r>
          </a:p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to withhold a prediction.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29200"/>
            <a:ext cx="5394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A5DCCB"/>
                </a:solidFill>
                <a:latin typeface="Aptos"/>
              </a:defRPr>
            </a:pPr>
            <a:r>
              <a:t>Team  himanshusubh1510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13248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D8E7E7"/>
                </a:solidFill>
                <a:latin typeface="Aptos"/>
              </a:defRPr>
            </a:pPr>
            <a:r>
              <a:t>Presenter  Himanshu Shukla  ·  MITS Gwalior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325880"/>
            <a:ext cx="4526280" cy="4315968"/>
          </a:xfrm>
          <a:prstGeom prst="roundRect">
            <a:avLst>
              <a:gd name="adj" fmla="val 15000"/>
            </a:avLst>
          </a:prstGeom>
          <a:solidFill>
            <a:srgbClr val="254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5" y="1618488"/>
            <a:ext cx="39319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A5DCCB"/>
                </a:solidFill>
                <a:latin typeface="Aptos"/>
              </a:defRPr>
            </a:pPr>
            <a:r>
              <a:t>SYNTHETIC REPLAY  /  EXAMPLE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984248"/>
            <a:ext cx="182880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5800" b="1">
                <a:solidFill>
                  <a:srgbClr val="FFFFFF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2322576"/>
            <a:ext cx="2057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C1D6DB"/>
                </a:solidFill>
                <a:latin typeface="Aptos"/>
              </a:defRPr>
            </a:pPr>
            <a:r>
              <a:t>mg/dL  at 12:15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60920" y="4160520"/>
            <a:ext cx="3831336" cy="0"/>
          </a:xfrm>
          <a:prstGeom prst="line">
            <a:avLst/>
          </a:prstGeom>
          <a:ln w="12700">
            <a:solidFill>
              <a:srgbClr val="6585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60920" y="4681728"/>
            <a:ext cx="3831336" cy="0"/>
          </a:xfrm>
          <a:prstGeom prst="line">
            <a:avLst/>
          </a:prstGeom>
          <a:ln w="12700">
            <a:solidFill>
              <a:srgbClr val="6585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7388352" y="3986784"/>
            <a:ext cx="1161288" cy="502920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549640" y="3968496"/>
            <a:ext cx="1124712" cy="18288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74352" y="3968496"/>
            <a:ext cx="1444752" cy="438912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333488" y="4434840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94776" y="3931920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19488" y="3913632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64240" y="4352544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4892040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7344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6768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550468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B8CED1"/>
                </a:solidFill>
                <a:latin typeface="Aptos"/>
              </a:defRPr>
            </a:pPr>
            <a:r>
              <a:t>Illustrative numbers. Not a calibrated clinical forecast.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01 /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One number describes the present. It does not explain the next two hours.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Patient context and measurement quality change what a forecast can mean.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02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12848"/>
            <a:ext cx="3657600" cy="33558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487168"/>
            <a:ext cx="25603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AT 12:15 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44368"/>
            <a:ext cx="2770632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63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95020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mg/dL  ·  synthetic observed 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4663440"/>
            <a:ext cx="3099815" cy="0"/>
          </a:xfrm>
          <a:prstGeom prst="line">
            <a:avLst/>
          </a:prstGeom>
          <a:ln w="1778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4764024"/>
            <a:ext cx="3182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A reading is evidence —</a:t>
            </a:r>
          </a:p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not a two-hour prediction.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212848"/>
            <a:ext cx="7114032" cy="33558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49631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ILLUSTRATIVE FORECAST FROM THE SAME REPLAY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53912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155.5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0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10144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+60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156.0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90888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28632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+120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145.4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73168" y="4416552"/>
            <a:ext cx="6419088" cy="0"/>
          </a:xfrm>
          <a:prstGeom prst="line">
            <a:avLst/>
          </a:prstGeom>
          <a:ln w="1778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773168" y="4599432"/>
            <a:ext cx="640080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67D88"/>
                </a:solidFill>
                <a:latin typeface="Aptos"/>
              </a:defRPr>
            </a:pPr>
            <a:r>
              <a:t>Context: 59.7 g recent carbohydrates  ·  heart rate 82 bpm  ·  time aligned CGM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" y="5824728"/>
            <a:ext cx="108630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Question for the prototype: can we show useful context without hiding sensor uncertainty?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02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Synchronize first. Predict only when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The judge can trace an observation through an explicit quality decision.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03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Patient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Age · BMI · HbA1c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3784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CGM observations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Value · 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3208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Meal +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Carbs ·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1056" y="3703320"/>
            <a:ext cx="3703320" cy="932688"/>
          </a:xfrm>
          <a:prstGeom prst="roundRect">
            <a:avLst>
              <a:gd name="adj" fmla="val 15000"/>
            </a:avLst>
          </a:prstGeom>
          <a:solidFill>
            <a:srgbClr val="E6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92224" y="3895344"/>
            <a:ext cx="33375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72F3B"/>
                </a:solidFill>
                <a:latin typeface="Aptos"/>
              </a:defRPr>
            </a:pPr>
            <a:r>
              <a:t>Versioned patient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4261104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Timestamp alignment + replay history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18488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867912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8192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18488" y="3483864"/>
            <a:ext cx="2249424" cy="0"/>
          </a:xfrm>
          <a:prstGeom prst="line">
            <a:avLst/>
          </a:prstGeom>
          <a:ln w="1778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67912" y="3483864"/>
            <a:ext cx="0" cy="219456"/>
          </a:xfrm>
          <a:prstGeom prst="line">
            <a:avLst/>
          </a:prstGeom>
          <a:ln w="1778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94376" y="4178808"/>
            <a:ext cx="603504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97880" y="3675887"/>
            <a:ext cx="2221992" cy="1005840"/>
          </a:xfrm>
          <a:prstGeom prst="roundRect">
            <a:avLst>
              <a:gd name="adj" fmla="val 15000"/>
            </a:avLst>
          </a:prstGeom>
          <a:solidFill>
            <a:srgbClr val="E8F2F1"/>
          </a:solidFill>
          <a:ln w="12700">
            <a:solidFill>
              <a:srgbClr val="16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822191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167E78"/>
                </a:solidFill>
                <a:latin typeface="Aptos"/>
              </a:defRPr>
            </a:pPr>
            <a:r>
              <a:t>DATA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51376"/>
            <a:ext cx="1883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Fresh enough?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8129016" y="2980944"/>
            <a:ext cx="493776" cy="978408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129016" y="4398264"/>
            <a:ext cx="493776" cy="740664"/>
          </a:xfrm>
          <a:prstGeom prst="line">
            <a:avLst/>
          </a:prstGeom>
          <a:ln w="25400">
            <a:solidFill>
              <a:srgbClr val="B46F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31936" y="2523744"/>
            <a:ext cx="2816352" cy="987552"/>
          </a:xfrm>
          <a:prstGeom prst="roundRect">
            <a:avLst>
              <a:gd name="adj" fmla="val 15000"/>
            </a:avLst>
          </a:prstGeom>
          <a:solidFill>
            <a:srgbClr val="E4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6528" y="265176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167E78"/>
                </a:solidFill>
                <a:latin typeface="Aptos"/>
              </a:defRPr>
            </a:pPr>
            <a:r>
              <a:t>VALID / SUPPORTED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2953512"/>
            <a:ext cx="2560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30 / 60 / 120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31936" y="4690872"/>
            <a:ext cx="2816352" cy="987552"/>
          </a:xfrm>
          <a:prstGeom prst="roundRect">
            <a:avLst>
              <a:gd name="adj" fmla="val 15000"/>
            </a:avLst>
          </a:prstGeom>
          <a:solidFill>
            <a:srgbClr val="F6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4809744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46F4B"/>
                </a:solidFill>
                <a:latin typeface="Aptos"/>
              </a:defRPr>
            </a:pPr>
            <a:r>
              <a:t>SENSOR TOO STALE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5102352"/>
            <a:ext cx="2551176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Withhold forecast + risk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185416" y="5907024"/>
            <a:ext cx="6409944" cy="0"/>
          </a:xfrm>
          <a:prstGeom prst="line">
            <a:avLst/>
          </a:prstGeom>
          <a:ln w="12700">
            <a:solidFill>
              <a:srgbClr val="A6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85416" y="4645152"/>
            <a:ext cx="0" cy="1261872"/>
          </a:xfrm>
          <a:prstGeom prst="line">
            <a:avLst/>
          </a:prstGeom>
          <a:ln w="12700">
            <a:solidFill>
              <a:srgbClr val="A6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505456" y="566928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Later valid observations are compared with earlier forecasts (synthetic verification)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6153912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Python · FastAPI · HTML/CSS/JS  /  scikit-learn research pipeline is separate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03 / 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The running demo — not just an architecture diagram.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Actual FastAPI dashboard, reproducible synthetic lunch checkpoint.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04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7808975" cy="385876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ve_Demo_L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31720"/>
            <a:ext cx="7580375" cy="3429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797296"/>
            <a:ext cx="7296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ACTUAL LOCAL DEMO   /   LUNCH CHECKPOINT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58784" y="2221992"/>
            <a:ext cx="3035808" cy="3858768"/>
          </a:xfrm>
          <a:prstGeom prst="roundRect">
            <a:avLst>
              <a:gd name="adj" fmla="val 15000"/>
            </a:avLst>
          </a:prstGeom>
          <a:solidFill>
            <a:srgbClr val="E5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5672" y="2459736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JUDGE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5672" y="2834640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01 ·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5672" y="303580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Initial reading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3282696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02 · Breakfast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3483864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Meal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3730752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03 · Lunch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393192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Forecast trajectory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5672" y="4178808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04 · 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5672" y="4379976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Forecasts resolved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5672" y="4626864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05 · Sensor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2" y="4828032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Forecast withheld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5672" y="5074920"/>
            <a:ext cx="25603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06 · Recovery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5672" y="527608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67D88"/>
                </a:solidFill>
                <a:latin typeface="Aptos"/>
              </a:defRPr>
            </a:pPr>
            <a:r>
              <a:t>Fresh signal returns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384" y="5641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B46F4B"/>
                </a:solidFill>
                <a:latin typeface="Aptos"/>
              </a:defRPr>
            </a:pPr>
            <a:r>
              <a:t>Six deterministic synthetic states. No clinical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04 / SENSOR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When the signal fails, the interface must say 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The demo includes a deliberately missing/stale glucose segment.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05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203704"/>
            <a:ext cx="5230368" cy="3072384"/>
          </a:xfrm>
          <a:prstGeom prst="roundRect">
            <a:avLst>
              <a:gd name="adj" fmla="val 15000"/>
            </a:avLst>
          </a:prstGeom>
          <a:solidFill>
            <a:srgbClr val="E7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14600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67E78"/>
                </a:solidFill>
                <a:latin typeface="Aptos"/>
              </a:defRPr>
            </a:pPr>
            <a:r>
              <a:t>VALID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2788920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61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429000"/>
            <a:ext cx="13716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667D88"/>
                </a:solidFill>
                <a:latin typeface="Aptos"/>
              </a:defRPr>
            </a:pPr>
            <a:r>
              <a:t>mg/dL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2688" y="4315968"/>
            <a:ext cx="4526280" cy="0"/>
          </a:xfrm>
          <a:prstGeom prst="line">
            <a:avLst/>
          </a:prstGeom>
          <a:ln w="17780">
            <a:solidFill>
              <a:srgbClr val="BD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1832" y="4471416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67E78"/>
                </a:solidFill>
                <a:latin typeface="Aptos"/>
              </a:defRPr>
            </a:pPr>
            <a:r>
              <a:t>Forecast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855464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667D88"/>
                </a:solidFill>
                <a:latin typeface="Aptos"/>
              </a:defRPr>
            </a:pPr>
            <a:r>
              <a:t>Synthetic example at 12:15 PM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203704"/>
            <a:ext cx="5532120" cy="3072384"/>
          </a:xfrm>
          <a:prstGeom prst="roundRect">
            <a:avLst>
              <a:gd name="adj" fmla="val 15000"/>
            </a:avLst>
          </a:prstGeom>
          <a:solidFill>
            <a:srgbClr val="F7ED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514600"/>
            <a:ext cx="45720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B46F4B"/>
                </a:solidFill>
                <a:latin typeface="Aptos"/>
              </a:defRPr>
            </a:pPr>
            <a:r>
              <a:t>STALE SENSOR / 14:25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3154680"/>
            <a:ext cx="484632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800" b="1">
                <a:solidFill>
                  <a:srgbClr val="172F3B"/>
                </a:solidFill>
                <a:latin typeface="Aptos"/>
              </a:defRPr>
            </a:pPr>
            <a:r>
              <a:t>WITHHELD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73368" y="4315968"/>
            <a:ext cx="4754880" cy="0"/>
          </a:xfrm>
          <a:prstGeom prst="line">
            <a:avLst/>
          </a:prstGeom>
          <a:ln w="17780">
            <a:solidFill>
              <a:srgbClr val="DDC7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73368" y="4471416"/>
            <a:ext cx="462686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B46F4B"/>
                </a:solidFill>
                <a:latin typeface="Aptos"/>
              </a:defRPr>
            </a:pPr>
            <a:r>
              <a:t>No verified glucose  ·  No forecast  ·  No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495544"/>
            <a:ext cx="10744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72F3B"/>
                </a:solidFill>
                <a:latin typeface="Aptos"/>
              </a:defRPr>
            </a:pPr>
            <a:r>
              <a:t>Up to 15 minutes: model may use the last valid reading for a provisional estimate.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97880"/>
            <a:ext cx="10744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67D88"/>
                </a:solidFill>
                <a:latin typeface="Aptos"/>
              </a:defRPr>
            </a:pPr>
            <a:r>
              <a:t>Beyond the freshness rule: no estimate is shown. Imputed values are never drawn as measured CGM.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05 / EVIDENCE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A measured research signal. Not a deployed clinical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Independent CGMacros study, patient-grouped holdout; lower MAE is better.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06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157984"/>
            <a:ext cx="6812280" cy="36027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957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MAE  /  mg/dL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620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30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862072"/>
            <a:ext cx="1641656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108960"/>
            <a:ext cx="1450018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852928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14.82 / 13.09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6941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60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3694176"/>
            <a:ext cx="2541133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20240" y="3941064"/>
            <a:ext cx="2300755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685032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22.94 / 20.77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262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120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526280"/>
            <a:ext cx="3595692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20240" y="4773168"/>
            <a:ext cx="3065089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4517136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32.46 / 27.67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440680"/>
            <a:ext cx="630021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Gray: persistence baseline     Teal: independent study model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2157984"/>
            <a:ext cx="3977639" cy="3602736"/>
          </a:xfrm>
          <a:prstGeom prst="roundRect">
            <a:avLst>
              <a:gd name="adj" fmla="val 15000"/>
            </a:avLst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432304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816352"/>
            <a:ext cx="1024128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500" b="1">
                <a:solidFill>
                  <a:srgbClr val="172F3B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980944"/>
            <a:ext cx="24048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participants  /  14 with T2D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0416" y="3520440"/>
            <a:ext cx="3337560" cy="0"/>
          </a:xfrm>
          <a:prstGeom prst="line">
            <a:avLst/>
          </a:prstGeom>
          <a:ln w="17780">
            <a:solidFill>
              <a:srgbClr val="C6D6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09560" y="3730752"/>
            <a:ext cx="324612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Only 3 T2D participants in the</a:t>
            </a:r>
          </a:p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10-person primary holdout.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736592"/>
            <a:ext cx="331012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B46F4B"/>
                </a:solidFill>
                <a:latin typeface="Aptos"/>
              </a:defRPr>
            </a:pPr>
            <a:r>
              <a:t>The study model is NOT the model</a:t>
            </a:r>
          </a:p>
          <a:p>
            <a:pPr algn="l">
              <a:spcAft>
                <a:spcPts val="200"/>
              </a:spcAft>
              <a:defRPr sz="1500" b="1">
                <a:solidFill>
                  <a:srgbClr val="B46F4B"/>
                </a:solidFill>
                <a:latin typeface="Aptos"/>
              </a:defRPr>
            </a:pPr>
            <a:r>
              <a:t>running in the synthetic dashboard.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What the judge can verify: deterministic replay, sensor-gap abstention, and research provenance.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HimanshuDigitalTwin — Happiest Health six-slide submission</dc:title>
  <dc:subject>Research glucose digital twin: synthetic demo and independent evidence</dc:subject>
  <dc:creator>Himanshu Shukla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